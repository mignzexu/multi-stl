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avi" ContentType="video/unknown"/>
  <Override PartName="/ppt/media/media2.avi" ContentType="video/unknown"/>
  <Override PartName="/ppt/media/media3.avi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avi"/><Relationship Id="rId3" Type="http://schemas.openxmlformats.org/officeDocument/2006/relationships/video" Target="../media/media1.avi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avi"/><Relationship Id="rId3" Type="http://schemas.openxmlformats.org/officeDocument/2006/relationships/video" Target="../media/media2.avi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avi"/><Relationship Id="rId3" Type="http://schemas.openxmlformats.org/officeDocument/2006/relationships/video" Target="../media/media3.avi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LXGW WenKai"/>
              </a:rPr>
              <a:t>BiFlow 模式: 实验设置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LXGW WenKai"/>
              </a:rPr>
              <a:t>联合前向/后向轨迹与条件噪声建模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实验配置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860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biflow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GVBF 模型配置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743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1_2_64_cond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数据集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2004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weatherbench / wind_3s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576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['w10'] -&gt; ['w10']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序列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1148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12 输入 + 12 预测帧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网格尺寸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5720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128 x 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92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优化器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029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lr=0.0001, batch=8, seed=42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864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最优检查点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4864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epoch003-val_loss0.263140.ckpt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463040"/>
            <a:ext cx="557784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XGW WenKai"/>
              </a:rPr>
              <a:t>本实验测试内容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LXGW WenKai"/>
              </a:rPr>
              <a:t>三种模式均在 WeatherBench wind_3s 任务上进行。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432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LXGW WenKai"/>
              </a:rPr>
              <a:t>基于 12 帧历史风速数据预报未来 12 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LXGW WenKai"/>
              </a:rPr>
              <a:t>评估指标：MAE/MSE/RMSE 及阈值指标（8.0, 13.9, 20.8）。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297680"/>
            <a:ext cx="5577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4348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LXGW WenKai"/>
              </a:rPr>
              <a:t>代表性预测动画：2017_0</a:t>
            </a:r>
          </a:p>
        </p:txBody>
      </p:sp>
      <p:pic>
        <p:nvPicPr>
          <p:cNvPr id="31" name="biflow_pred.avi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0" y="4846320"/>
            <a:ext cx="5029200" cy="1371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LXGW WenKai"/>
              </a:rPr>
              <a:t>数据来源：work_dirs/biflow_w3s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LXGW WenKai"/>
              </a:rPr>
              <a:t>BiFlow 模式: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LXGW WenKai"/>
              </a:rPr>
              <a:t>测试指标与训练动态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LXGW WenKa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1.727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LXGW WenKai"/>
              </a:rPr>
              <a:t>排名 3/3（越低越好）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LXGW WenKai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2.493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40280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LXGW WenKai"/>
              </a:rPr>
              <a:t>排名 3/3（越低越好）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LXGW WenKai"/>
              </a:rPr>
              <a:t>最优验证损失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0.2631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LXGW WenKai"/>
              </a:rPr>
              <a:t>最优 Epoch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463040"/>
            <a:ext cx="310896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554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BD5E1"/>
                </a:solidFill>
                <a:latin typeface="LXGW WenKai"/>
              </a:rPr>
              <a:t>平均 HSS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8288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XGW WenKai"/>
              </a:rPr>
              <a:t>0.760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2402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E8F0"/>
                </a:solidFill>
                <a:latin typeface="LXGW WenKai"/>
              </a:rPr>
              <a:t>排名 3/3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834640"/>
            <a:ext cx="43891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971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LXGW WenKai"/>
              </a:rPr>
              <a:t>阈值指标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3375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LXGW WenKai"/>
              </a:rPr>
              <a:t>风速阈值下的 CSI / POD / FAR / HSS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C3AED"/>
                </a:solidFill>
                <a:latin typeface="LXGW WenKai"/>
              </a:rPr>
              <a:t>阈值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C3AED"/>
                </a:solidFill>
                <a:latin typeface="LXGW WenKai"/>
              </a:rPr>
              <a:t>CSI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C3AED"/>
                </a:solidFill>
                <a:latin typeface="LXGW WenKai"/>
              </a:rPr>
              <a:t>POD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C3AED"/>
                </a:solidFill>
                <a:latin typeface="LXGW WenKai"/>
              </a:rPr>
              <a:t>FAR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C3AED"/>
                </a:solidFill>
                <a:latin typeface="LXGW WenKai"/>
              </a:rPr>
              <a:t>HSS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0.841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0.906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0.079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13.9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0.840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0.174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20.8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0.614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0.224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8521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LXGW WenKai"/>
              </a:rPr>
              <a:t>观察结论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17220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验证集最优出现较早（epoch 4），最终测试指标弱于其他模式。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0" y="2834640"/>
            <a:ext cx="64008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2971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LXGW WenKai"/>
              </a:rPr>
              <a:t>训练动态</a:t>
            </a:r>
          </a:p>
        </p:txBody>
      </p:sp>
      <p:pic>
        <p:nvPicPr>
          <p:cNvPr id="51" name="Picture 50" descr="biflow_los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474720"/>
            <a:ext cx="5303520" cy="21031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577840" y="566928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LXGW WenKai"/>
              </a:rPr>
              <a:t>最终验证损失：0.3270 | 检查点：epoch003-val_loss0.263140.ckpt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LXGW WenKai"/>
              </a:rPr>
              <a:t>指标来源：work_dirs/biflow_w3s/result.json 与 metrics.json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LXGW WenKai"/>
              </a:rPr>
              <a:t>Flow 模式: 实验设置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LXGW WenKai"/>
              </a:rPr>
              <a:t>确定性流轨迹用于风速序列预报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实验配置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860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GVBF 模型配置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743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1_1_64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数据集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2004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weatherbench / wind_3s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576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['w10'] -&gt; ['w10']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序列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1148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12 输入 + 12 预测帧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网格尺寸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5720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128 x 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92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优化器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029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lr=0.0001, batch=8, seed=42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864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最优检查点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4864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epoch018-val_loss0.011366.ckpt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463040"/>
            <a:ext cx="557784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XGW WenKai"/>
              </a:rPr>
              <a:t>本实验测试内容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LXGW WenKai"/>
              </a:rPr>
              <a:t>三种模式均在 WeatherBench wind_3s 任务上进行。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432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LXGW WenKai"/>
              </a:rPr>
              <a:t>基于 12 帧历史风速数据预报未来 12 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LXGW WenKai"/>
              </a:rPr>
              <a:t>评估指标：MAE/MSE/RMSE 及阈值指标（8.0, 13.9, 20.8）。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297680"/>
            <a:ext cx="5577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4348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LXGW WenKai"/>
              </a:rPr>
              <a:t>代表性预测动画：2017_0</a:t>
            </a:r>
          </a:p>
        </p:txBody>
      </p:sp>
      <p:pic>
        <p:nvPicPr>
          <p:cNvPr id="31" name="flow_pred.avi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0" y="4846320"/>
            <a:ext cx="5029200" cy="1371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LXGW WenKai"/>
              </a:rPr>
              <a:t>数据来源：work_dirs/flow_w3s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LXGW WenKai"/>
              </a:rPr>
              <a:t>Flow 模式: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LXGW WenKai"/>
              </a:rPr>
              <a:t>测试指标与训练动态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A5E9"/>
                </a:solidFill>
                <a:latin typeface="LXGW WenKa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1.460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LXGW WenKai"/>
              </a:rPr>
              <a:t>排名 1/3（越低越好）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A5E9"/>
                </a:solidFill>
                <a:latin typeface="LXGW WenKai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2.164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40280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LXGW WenKai"/>
              </a:rPr>
              <a:t>排名 1/3（越低越好）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A5E9"/>
                </a:solidFill>
                <a:latin typeface="LXGW WenKai"/>
              </a:rPr>
              <a:t>最优验证损失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0.0114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A5E9"/>
                </a:solidFill>
                <a:latin typeface="LXGW WenKai"/>
              </a:rPr>
              <a:t>最优 Epoch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463040"/>
            <a:ext cx="310896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554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BD5E1"/>
                </a:solidFill>
                <a:latin typeface="LXGW WenKai"/>
              </a:rPr>
              <a:t>平均 HSS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8288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XGW WenKai"/>
              </a:rPr>
              <a:t>0.804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2402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E8F0"/>
                </a:solidFill>
                <a:latin typeface="LXGW WenKai"/>
              </a:rPr>
              <a:t>排名 1/3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834640"/>
            <a:ext cx="43891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971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LXGW WenKai"/>
              </a:rPr>
              <a:t>阈值指标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3375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LXGW WenKai"/>
              </a:rPr>
              <a:t>风速阈值下的 CSI / POD / FAR / HSS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A5E9"/>
                </a:solidFill>
                <a:latin typeface="LXGW WenKai"/>
              </a:rPr>
              <a:t>阈值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A5E9"/>
                </a:solidFill>
                <a:latin typeface="LXGW WenKai"/>
              </a:rPr>
              <a:t>CSI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A5E9"/>
                </a:solidFill>
                <a:latin typeface="LXGW WenKai"/>
              </a:rPr>
              <a:t>POD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A5E9"/>
                </a:solidFill>
                <a:latin typeface="LXGW WenKai"/>
              </a:rPr>
              <a:t>FAR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A5E9"/>
                </a:solidFill>
                <a:latin typeface="LXGW WenKai"/>
              </a:rPr>
              <a:t>HSS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0.866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0.927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0.071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13.9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0.875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0.143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0.822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20.8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0.676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0.834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0.219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0.794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8521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LXGW WenKai"/>
              </a:rPr>
              <a:t>观察结论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17220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三个实验中综合最优：MAE/RMSE 最低，平均 HSS 最高。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0" y="2834640"/>
            <a:ext cx="64008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2971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LXGW WenKai"/>
              </a:rPr>
              <a:t>训练动态</a:t>
            </a:r>
          </a:p>
        </p:txBody>
      </p:sp>
      <p:pic>
        <p:nvPicPr>
          <p:cNvPr id="51" name="Picture 50" descr="flow_los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474720"/>
            <a:ext cx="5303520" cy="21031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577840" y="566928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LXGW WenKai"/>
              </a:rPr>
              <a:t>最终验证损失：0.0121 | 检查点：epoch018-val_loss0.011366.ckpt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LXGW WenKai"/>
              </a:rPr>
              <a:t>指标来源：work_dirs/flow_w3s/result.json 与 metrics.json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LXGW WenKai"/>
              </a:rPr>
              <a:t>ConDiff 模式: 实验设置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LXGW WenKai"/>
              </a:rPr>
              <a:t>基于条件扩散的 GVBF 动力学校正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实验配置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860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condiff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GVBF 模型配置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743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2_1_64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数据集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2004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weatherbench / wind_3s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576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['w10'] -&gt; ['w10']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序列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1148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12 输入 + 12 预测帧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网格尺寸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5720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128 x 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92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优化器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029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lr=0.0001, batch=8, seed=42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864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LXGW WenKai"/>
              </a:rPr>
              <a:t>最优检查点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4864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LXGW WenKai"/>
              </a:rPr>
              <a:t>epoch030-val_loss0.119712.ckpt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463040"/>
            <a:ext cx="557784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XGW WenKai"/>
              </a:rPr>
              <a:t>本实验测试内容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LXGW WenKai"/>
              </a:rPr>
              <a:t>三种模式均在 WeatherBench wind_3s 任务上进行。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432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LXGW WenKai"/>
              </a:rPr>
              <a:t>基于 12 帧历史风速数据预报未来 12 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LXGW WenKai"/>
              </a:rPr>
              <a:t>评估指标：MAE/MSE/RMSE 及阈值指标（8.0, 13.9, 20.8）。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297680"/>
            <a:ext cx="5577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4348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LXGW WenKai"/>
              </a:rPr>
              <a:t>代表性预测动画：2017_0</a:t>
            </a:r>
          </a:p>
        </p:txBody>
      </p:sp>
      <p:pic>
        <p:nvPicPr>
          <p:cNvPr id="31" name="condiff_pred.avi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0" y="4846320"/>
            <a:ext cx="5029200" cy="1371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LXGW WenKai"/>
              </a:rPr>
              <a:t>数据来源：work_dirs/condiff_w3s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LXGW WenKai"/>
              </a:rPr>
              <a:t>ConDiff 模式: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LXGW WenKai"/>
              </a:rPr>
              <a:t>测试指标与训练动态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LXGW WenKa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1.548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LXGW WenKai"/>
              </a:rPr>
              <a:t>排名 2/3（越低越好）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LXGW WenKai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2.242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40280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LXGW WenKai"/>
              </a:rPr>
              <a:t>排名 2/3（越低越好）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LXGW WenKai"/>
              </a:rPr>
              <a:t>最优验证损失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0.1197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46304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554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LXGW WenKai"/>
              </a:rPr>
              <a:t>最优 Epoch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87451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LXGW WenKai"/>
              </a:rPr>
              <a:t>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463040"/>
            <a:ext cx="310896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554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BD5E1"/>
                </a:solidFill>
                <a:latin typeface="LXGW WenKai"/>
              </a:rPr>
              <a:t>平均 HSS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8288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XGW WenKai"/>
              </a:rPr>
              <a:t>0.789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2402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E8F0"/>
                </a:solidFill>
                <a:latin typeface="LXGW WenKai"/>
              </a:rPr>
              <a:t>排名 2/3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834640"/>
            <a:ext cx="43891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971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LXGW WenKai"/>
              </a:rPr>
              <a:t>阈值指标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3375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LXGW WenKai"/>
              </a:rPr>
              <a:t>风速阈值下的 CSI / POD / FAR / HSS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LXGW WenKai"/>
              </a:rPr>
              <a:t>阈值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LXGW WenKai"/>
              </a:rPr>
              <a:t>CSI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LXGW WenKai"/>
              </a:rPr>
              <a:t>POD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LXGW WenKai"/>
              </a:rPr>
              <a:t>FAR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384048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LXGW WenKai"/>
              </a:rPr>
              <a:t>HSS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0.858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0.929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0.082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2519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13.9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0.865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0.158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4663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0.805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20.8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0.660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0.808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0.218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50749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0.782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8521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LXGW WenKai"/>
              </a:rPr>
              <a:t>观察结论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17220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LXGW WenKai"/>
              </a:rPr>
              <a:t>检测指标接近 Flow，但误差幅度仍然较高。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0" y="2834640"/>
            <a:ext cx="64008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2971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LXGW WenKai"/>
              </a:rPr>
              <a:t>训练动态</a:t>
            </a:r>
          </a:p>
        </p:txBody>
      </p:sp>
      <p:pic>
        <p:nvPicPr>
          <p:cNvPr id="51" name="Picture 50" descr="condiff_los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474720"/>
            <a:ext cx="5303520" cy="21031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577840" y="566928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LXGW WenKai"/>
              </a:rPr>
              <a:t>最终验证损失：0.1262 | 检查点：epoch030-val_loss0.119712.ckpt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LXGW WenKai"/>
              </a:rPr>
              <a:t>指标来源：work_dirs/condiff_w3s/result.json 与 metrics.json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LXGW WenKai"/>
              </a:rPr>
              <a:t>未来工作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LXGW WenKai"/>
              </a:rPr>
              <a:t>后续研究方向与计划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874520"/>
            <a:ext cx="64008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XGW WenKa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2880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LXGW WenKai"/>
              </a:rPr>
              <a:t>本地数据集验证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860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LXGW WenKai"/>
              </a:rPr>
              <a:t>将模型在本地气象站点数据集上进行验证，评估模型在真实观测数据上的泛化能力和预报精度。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6984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3520440"/>
            <a:ext cx="64008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XGW WenKa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7472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LXGW WenKai"/>
              </a:rPr>
              <a:t>25 雷达数据处理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9319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LXGW WenKai"/>
              </a:rPr>
              <a:t>完成 25 雷达数据的预处理流水线，包括质量控制、时空对齐和标准化，为多源融合实验提供数据基础。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5166360"/>
            <a:ext cx="64008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XGW WenKa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12064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LXGW WenKai"/>
              </a:rPr>
              <a:t>WeatherBench 新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5778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LXGW WenKai"/>
              </a:rPr>
              <a:t>在 WeatherBench 基准中继续验证新的 Baseline 模型，对比 GVBF 各模式与主流方法的性能差异。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LXGW WenKai"/>
              </a:rPr>
              <a:t>Multi-STL 降水临近预报研究计划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